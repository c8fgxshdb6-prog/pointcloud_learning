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97B5FA-0921-464F-AAE1-844C04324D75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4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789D840-A6CD-C081-2334-29A58B0B47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83" y="5797917"/>
            <a:ext cx="1185766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7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FFDC-C3A0-BEBC-C317-7DC8E40E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41A1832A-C028-15D5-5E40-696976A01E88}"/>
              </a:ext>
            </a:extLst>
          </p:cNvPr>
          <p:cNvSpPr/>
          <p:nvPr/>
        </p:nvSpPr>
        <p:spPr>
          <a:xfrm>
            <a:off x="1" y="0"/>
            <a:ext cx="12192000" cy="1032301"/>
          </a:xfrm>
          <a:prstGeom prst="rect">
            <a:avLst/>
          </a:prstGeom>
          <a:solidFill>
            <a:srgbClr val="004B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69D497-A0AE-07C4-AB5E-C49DF778E130}"/>
              </a:ext>
            </a:extLst>
          </p:cNvPr>
          <p:cNvSpPr/>
          <p:nvPr/>
        </p:nvSpPr>
        <p:spPr>
          <a:xfrm>
            <a:off x="0" y="1046408"/>
            <a:ext cx="6945682" cy="5717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阶段一：精确感知</a:t>
            </a:r>
            <a:r>
              <a:rPr lang="en-US" altLang="zh-CN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在灾后等复杂场景，准确鲁棒找到人等目标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3CA3A4-90FC-A98F-545E-5F0F8D732A97}"/>
              </a:ext>
            </a:extLst>
          </p:cNvPr>
          <p:cNvSpPr/>
          <p:nvPr/>
        </p:nvSpPr>
        <p:spPr>
          <a:xfrm>
            <a:off x="0" y="2241939"/>
            <a:ext cx="6945681" cy="51848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阶段二：任务自适应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核心创新（目前先完成下线、范围的确定）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BB69B58-FED7-84A4-D663-214B21865235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flipH="1">
            <a:off x="3472840" y="2760427"/>
            <a:ext cx="1" cy="541449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295104-F870-92BF-C67F-37AFAB1F42F9}"/>
              </a:ext>
            </a:extLst>
          </p:cNvPr>
          <p:cNvSpPr/>
          <p:nvPr/>
        </p:nvSpPr>
        <p:spPr>
          <a:xfrm>
            <a:off x="-1" y="3301876"/>
            <a:ext cx="6945681" cy="6064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阶段三：系统闭环验证与消融实验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在信道无损下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跑通整个流程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12A9CD-6B9A-0AC7-B5CB-3EBFC302A34C}"/>
              </a:ext>
            </a:extLst>
          </p:cNvPr>
          <p:cNvSpPr/>
          <p:nvPr/>
        </p:nvSpPr>
        <p:spPr>
          <a:xfrm>
            <a:off x="-1" y="4297275"/>
            <a:ext cx="6945680" cy="54144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阶段四：把系统与语义通信结合（加上窄信道、噪声等方面因素）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16AE90-A84C-012B-E4C5-4A6F79827D22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>
            <a:off x="6945682" y="1332262"/>
            <a:ext cx="498393" cy="372925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C459058-867B-772A-E053-C3B2D0C06AF3}"/>
              </a:ext>
            </a:extLst>
          </p:cNvPr>
          <p:cNvCxnSpPr>
            <a:cxnSpLocks/>
            <a:stCxn id="7" idx="3"/>
            <a:endCxn id="73" idx="1"/>
          </p:cNvCxnSpPr>
          <p:nvPr/>
        </p:nvCxnSpPr>
        <p:spPr>
          <a:xfrm>
            <a:off x="6945681" y="2501183"/>
            <a:ext cx="498394" cy="523581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72811038-191D-60FB-24E2-C1EA7A080199}"/>
              </a:ext>
            </a:extLst>
          </p:cNvPr>
          <p:cNvSpPr/>
          <p:nvPr/>
        </p:nvSpPr>
        <p:spPr>
          <a:xfrm>
            <a:off x="7444075" y="1032301"/>
            <a:ext cx="4747925" cy="13457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模型选型</a:t>
            </a:r>
            <a:r>
              <a:rPr lang="zh-CN" altLang="en-US" sz="1400" dirty="0"/>
              <a:t>：在</a:t>
            </a:r>
            <a:r>
              <a:rPr lang="en-US" altLang="zh-CN" sz="1400" b="1" dirty="0"/>
              <a:t>PointNet++</a:t>
            </a:r>
            <a:r>
              <a:rPr lang="zh-CN" altLang="en-US" sz="1400" dirty="0"/>
              <a:t>上，是否选择更新的模型</a:t>
            </a:r>
            <a:r>
              <a:rPr lang="zh-CN" altLang="en-US" sz="1400" b="1" dirty="0"/>
              <a:t>（可以同时针对高密度和低密度情景）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关键分析：将测试集按目标点云密度分组，分别评估性能，以凸显现有“一刀切”方法在低密度目标上的缺陷。</a:t>
            </a:r>
            <a:endParaRPr lang="en-US" altLang="zh-CN" sz="1400" b="1" dirty="0"/>
          </a:p>
          <a:p>
            <a:pPr algn="ctr"/>
            <a:endParaRPr lang="en-US" altLang="zh-CN" sz="1400" b="1" dirty="0"/>
          </a:p>
          <a:p>
            <a:pPr algn="ctr"/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92AEDC7-C399-9D59-A5BA-2354F97403A9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>
            <a:off x="6945680" y="3605121"/>
            <a:ext cx="498395" cy="476555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AFC6A2F6-BAB9-C5FB-9B4E-8F208F086F0D}"/>
              </a:ext>
            </a:extLst>
          </p:cNvPr>
          <p:cNvCxnSpPr>
            <a:cxnSpLocks/>
            <a:stCxn id="17" idx="3"/>
            <a:endCxn id="145" idx="1"/>
          </p:cNvCxnSpPr>
          <p:nvPr/>
        </p:nvCxnSpPr>
        <p:spPr>
          <a:xfrm>
            <a:off x="6945679" y="4568000"/>
            <a:ext cx="498397" cy="44225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107DC976-B9B1-E157-0C03-8932954402E0}"/>
              </a:ext>
            </a:extLst>
          </p:cNvPr>
          <p:cNvSpPr/>
          <p:nvPr/>
        </p:nvSpPr>
        <p:spPr>
          <a:xfrm>
            <a:off x="240582" y="288890"/>
            <a:ext cx="983488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本周进展</a:t>
            </a:r>
            <a:r>
              <a:rPr kumimoji="0" lang="en-US" altLang="zh-CN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：对整个研究流程进行大致梳理与划分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6B30255-9AB7-0C82-321D-9D8E08931D1E}"/>
              </a:ext>
            </a:extLst>
          </p:cNvPr>
          <p:cNvSpPr/>
          <p:nvPr/>
        </p:nvSpPr>
        <p:spPr>
          <a:xfrm>
            <a:off x="7444075" y="3692093"/>
            <a:ext cx="4747925" cy="7791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进行对比：固定下采样、任务无关的</a:t>
            </a:r>
            <a:r>
              <a:rPr lang="en-US" altLang="zh-CN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FPS</a:t>
            </a: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采样</a:t>
            </a:r>
            <a:endParaRPr lang="en-US" altLang="zh-CN" sz="1600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我们的方法：检测 → 任务自适应→ 下游任务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38FED58-562B-8517-EDB7-9DF4CA3E7A4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472840" y="1618116"/>
            <a:ext cx="1" cy="623823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1910919-57F5-E624-2DC1-04181A406786}"/>
              </a:ext>
            </a:extLst>
          </p:cNvPr>
          <p:cNvSpPr/>
          <p:nvPr/>
        </p:nvSpPr>
        <p:spPr>
          <a:xfrm>
            <a:off x="7444075" y="2564493"/>
            <a:ext cx="4747925" cy="92054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整个研究的难点，目前只计划研究下线（系统性能崩溃边界）与范围（在非崩溃状态下，根据目标密度</a:t>
            </a:r>
            <a:r>
              <a:rPr lang="en-US" altLang="zh-CN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重要性划分不同策略区间）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04A7BF6-292D-EF9B-1304-C15B7DF5431B}"/>
              </a:ext>
            </a:extLst>
          </p:cNvPr>
          <p:cNvSpPr/>
          <p:nvPr/>
        </p:nvSpPr>
        <p:spPr>
          <a:xfrm>
            <a:off x="0" y="5288881"/>
            <a:ext cx="6945678" cy="5227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最后回到阶段二：开始对自适应策略进行针对性调整和设计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07B68B3B-F3CF-A0BD-1908-EA2A30F72F85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3472839" y="3908366"/>
            <a:ext cx="1" cy="388909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65AA8909-E59E-1339-3185-AC9B2803E7A1}"/>
              </a:ext>
            </a:extLst>
          </p:cNvPr>
          <p:cNvSpPr/>
          <p:nvPr/>
        </p:nvSpPr>
        <p:spPr>
          <a:xfrm>
            <a:off x="7444076" y="4707004"/>
            <a:ext cx="4747924" cy="6064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最后回到真实的信道条件，也是核心背景：窄信道的信息输送</a:t>
            </a:r>
            <a:endParaRPr lang="en-US" altLang="zh-CN" sz="1600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DB770814-CB10-8736-2137-56F06FA4D64A}"/>
              </a:ext>
            </a:extLst>
          </p:cNvPr>
          <p:cNvCxnSpPr>
            <a:cxnSpLocks/>
            <a:stCxn id="17" idx="2"/>
            <a:endCxn id="123" idx="0"/>
          </p:cNvCxnSpPr>
          <p:nvPr/>
        </p:nvCxnSpPr>
        <p:spPr>
          <a:xfrm>
            <a:off x="3472839" y="4838724"/>
            <a:ext cx="0" cy="450157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88428C42-D5ED-6890-5E32-8FF9F9DC8FDF}"/>
              </a:ext>
            </a:extLst>
          </p:cNvPr>
          <p:cNvSpPr/>
          <p:nvPr/>
        </p:nvSpPr>
        <p:spPr>
          <a:xfrm>
            <a:off x="7444075" y="5549241"/>
            <a:ext cx="4747924" cy="60649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目前的一些简单考虑：下采样、注意力机制、引入高斯分布等数学函数设计权重值</a:t>
            </a:r>
            <a:endParaRPr lang="en-US" altLang="zh-CN" sz="1600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FD0A46AE-152B-A369-F109-85EA9C55465C}"/>
              </a:ext>
            </a:extLst>
          </p:cNvPr>
          <p:cNvCxnSpPr>
            <a:cxnSpLocks/>
            <a:stCxn id="123" idx="3"/>
            <a:endCxn id="154" idx="1"/>
          </p:cNvCxnSpPr>
          <p:nvPr/>
        </p:nvCxnSpPr>
        <p:spPr>
          <a:xfrm>
            <a:off x="6945678" y="5550237"/>
            <a:ext cx="498397" cy="30225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689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>
            <a:extLst>
              <a:ext uri="{FF2B5EF4-FFF2-40B4-BE49-F238E27FC236}">
                <a16:creationId xmlns:a16="http://schemas.microsoft.com/office/drawing/2014/main" id="{C39181E8-A80C-0CF7-D6C9-B40B1C9074E0}"/>
              </a:ext>
            </a:extLst>
          </p:cNvPr>
          <p:cNvSpPr/>
          <p:nvPr/>
        </p:nvSpPr>
        <p:spPr>
          <a:xfrm>
            <a:off x="-64718" y="11247"/>
            <a:ext cx="12321436" cy="1173480"/>
          </a:xfrm>
          <a:prstGeom prst="rect">
            <a:avLst/>
          </a:prstGeom>
          <a:solidFill>
            <a:srgbClr val="004B8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C42E62-7EB4-6068-85AF-563E40AA0763}"/>
              </a:ext>
            </a:extLst>
          </p:cNvPr>
          <p:cNvSpPr/>
          <p:nvPr/>
        </p:nvSpPr>
        <p:spPr>
          <a:xfrm>
            <a:off x="0" y="1184727"/>
            <a:ext cx="4582001" cy="225309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个人对背景要求的分析：</a:t>
            </a:r>
            <a:endParaRPr lang="en-US" altLang="zh-CN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灾后情况下人的特征轮廓可能被建筑物遮盖，特征会存在不完整、稀疏等情况，因此要求对局部有更强识别性能。</a:t>
            </a:r>
            <a:endParaRPr lang="en-US" altLang="zh-CN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有关人的目标点云可能在整个场景中占比很小，模型需要同时适应低密度和高密度点云两种情况。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CABE897-C6E6-2EAA-4E01-47F8D7F7C662}"/>
              </a:ext>
            </a:extLst>
          </p:cNvPr>
          <p:cNvSpPr/>
          <p:nvPr/>
        </p:nvSpPr>
        <p:spPr>
          <a:xfrm>
            <a:off x="6861147" y="1166002"/>
            <a:ext cx="4287017" cy="22718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目前考虑，使用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pointnet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先完成既定目标作为基线，在与升级后的如</a:t>
            </a:r>
            <a:r>
              <a:rPr lang="en-US" altLang="zh-CN" dirty="0" err="1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LCASAFormer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 err="1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pointnext</a:t>
            </a:r>
            <a:r>
              <a:rPr lang="zh-CN" altLang="en-US" dirty="0">
                <a:solidFill>
                  <a:prstClr val="white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等等模型对比结果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00243A-C67B-4D3B-8958-9952B29744D9}"/>
              </a:ext>
            </a:extLst>
          </p:cNvPr>
          <p:cNvSpPr/>
          <p:nvPr/>
        </p:nvSpPr>
        <p:spPr>
          <a:xfrm>
            <a:off x="29227" y="95432"/>
            <a:ext cx="12446696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进度二：对阶段一比较不同的模型并开始学习如何加入到原有</a:t>
            </a:r>
            <a:r>
              <a:rPr lang="en-US" altLang="zh-CN" sz="320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3200" b="0" i="0" u="none" strike="noStrike" kern="1200" cap="none" spc="0" normalizeH="0" baseline="0" noProof="0" dirty="0" err="1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ointNet</a:t>
            </a:r>
            <a:r>
              <a:rPr kumimoji="0" lang="en-US" altLang="zh-CN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kumimoji="0" lang="zh-CN" altLang="en-US" sz="32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877239-B52A-BF85-F759-A8A77258DF1B}"/>
              </a:ext>
            </a:extLst>
          </p:cNvPr>
          <p:cNvSpPr txBox="1"/>
          <p:nvPr/>
        </p:nvSpPr>
        <p:spPr>
          <a:xfrm>
            <a:off x="432230" y="3671407"/>
            <a:ext cx="3720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可选模型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LCASAFormer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PointNeXt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DGCNN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MSG/MRG PointNet++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C18ADEE-AE8C-F27F-5BE1-88B7BD2E3A9B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 flipV="1">
            <a:off x="4582001" y="2301913"/>
            <a:ext cx="2279146" cy="9363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C86FD43-BA45-F154-F818-AEF31323303D}"/>
              </a:ext>
            </a:extLst>
          </p:cNvPr>
          <p:cNvSpPr txBox="1"/>
          <p:nvPr/>
        </p:nvSpPr>
        <p:spPr>
          <a:xfrm>
            <a:off x="5235944" y="3671407"/>
            <a:ext cx="6338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一些疑问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选择人这个目标是否合适，是否有已经指定的目标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流程是否有未注意的漏洞与问题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数据如何获取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338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412</Words>
  <Application>Microsoft Office PowerPoint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t15619</dc:creator>
  <cp:lastModifiedBy>t15619</cp:lastModifiedBy>
  <cp:revision>3</cp:revision>
  <dcterms:created xsi:type="dcterms:W3CDTF">2025-11-23T12:25:29Z</dcterms:created>
  <dcterms:modified xsi:type="dcterms:W3CDTF">2025-11-23T14:32:48Z</dcterms:modified>
</cp:coreProperties>
</file>